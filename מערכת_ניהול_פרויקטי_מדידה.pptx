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326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4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8D9B9-B6C1-9198-74D6-E3BF93FE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DF6C9-BA0F-129D-A02E-4E1E0AF05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D9A78-1839-9ED5-24E3-50AD38C01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00E99-AB03-E571-576C-C38BE4DCB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6502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8582F-6FD0-44B9-31CE-CB14DA2B2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8406B-A6BF-E37D-E377-881B41915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092F7-27F4-A598-54D9-A6911223A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3D575-A31B-53CB-271D-812C15BDA2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722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&#1502;&#1506;&#1512;&#1499;&#1514;_&#1504;&#1497;&#1492;&#1493;&#1500;_&#1508;&#1512;&#1493;&#1497;&#1511;&#1496;&#1497;_&#1502;&#1491;&#1497;&#1491;&#1492;.ppt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localhost:8501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📐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828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הנדסה אזרחית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אוניברסיטת אריאל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492369"/>
            <a:ext cx="5394960" cy="1107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</a:t>
            </a: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לוחות זמנים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155448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sz="4200" b="1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פרויקטי</a:t>
            </a:r>
            <a:r>
              <a:rPr lang="he-IL" sz="4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מדידה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3474720" y="2423160"/>
            <a:ext cx="539496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חכם לניהול, ניתוח וחיזוי </a:t>
            </a:r>
            <a:r>
              <a:rPr lang="en-US" sz="15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לוחות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זמנים</a:t>
            </a:r>
            <a:endParaRPr lang="he-IL" sz="15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 rtl="1">
              <a:buNone/>
            </a:pPr>
            <a:endParaRPr lang="en-US" sz="1500" dirty="0"/>
          </a:p>
          <a:p>
            <a:pPr marL="0" indent="0" algn="ctr" rtl="1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מבוסס </a:t>
            </a:r>
            <a:r>
              <a:rPr lang="en-US" sz="15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מידע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ממאגר נתונים של חברת </a:t>
            </a:r>
            <a:r>
              <a:rPr lang="he-IL" sz="15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א.פנקס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ולמידת מכונה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429768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5943600" y="43251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https://shetachm-s.streamlit.app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הבעיה שפתרנו?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260266" y="1005840"/>
            <a:ext cx="402336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260266" y="1005840"/>
            <a:ext cx="4023360" cy="4572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305986" y="10241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הפתרון שלנו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3782" y="1572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מינוף יכולות ה 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לניתוח וחיזוי מותאמים למשרד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3782" y="2075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חיזוי משך פרויקט עם מודל ML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3782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 וחריגות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 </a:t>
            </a: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אוטומטי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3020" y="30815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</a:t>
            </a: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(ניתוח נתונים) </a:t>
            </a:r>
            <a:r>
              <a:rPr lang="en-US" sz="13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ויזואלי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 נתוני עבר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3782" y="3584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3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דשבורד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אינטראקטיבי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מרכזי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 rot="10800000">
            <a:off x="4160520" y="22860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31" name="Shape 2"/>
          <p:cNvSpPr/>
          <p:nvPr/>
        </p:nvSpPr>
        <p:spPr>
          <a:xfrm>
            <a:off x="4874440" y="1005840"/>
            <a:ext cx="402336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algn="r" rtl="1"/>
            <a:endParaRPr lang="he-IL" dirty="0"/>
          </a:p>
        </p:txBody>
      </p:sp>
      <p:sp>
        <p:nvSpPr>
          <p:cNvPr id="32" name="Shape 3"/>
          <p:cNvSpPr/>
          <p:nvPr/>
        </p:nvSpPr>
        <p:spPr>
          <a:xfrm>
            <a:off x="4874440" y="1005840"/>
            <a:ext cx="4023360" cy="457200"/>
          </a:xfrm>
          <a:prstGeom prst="rect">
            <a:avLst/>
          </a:prstGeom>
          <a:solidFill>
            <a:srgbClr val="7C1D2E"/>
          </a:solidFill>
          <a:ln w="12700">
            <a:solidFill>
              <a:srgbClr val="7C1D2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4"/>
          <p:cNvSpPr/>
          <p:nvPr/>
        </p:nvSpPr>
        <p:spPr>
          <a:xfrm>
            <a:off x="4920160" y="10241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הבעיה</a:t>
            </a:r>
            <a:endParaRPr lang="en-US" sz="1600" dirty="0"/>
          </a:p>
        </p:txBody>
      </p:sp>
      <p:sp>
        <p:nvSpPr>
          <p:cNvPr id="35" name="Text 6"/>
          <p:cNvSpPr/>
          <p:nvPr/>
        </p:nvSpPr>
        <p:spPr>
          <a:xfrm>
            <a:off x="5015126" y="1572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</a:t>
            </a:r>
            <a:r>
              <a:rPr lang="en-US" sz="13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פרויקטי </a:t>
            </a:r>
            <a:r>
              <a:rPr lang="en-US" sz="13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מדידה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אינם מדייקים בחיזוי לו"ז</a:t>
            </a:r>
            <a:endParaRPr lang="en-US" sz="1300" dirty="0"/>
          </a:p>
        </p:txBody>
      </p:sp>
      <p:sp>
        <p:nvSpPr>
          <p:cNvPr id="37" name="Text 8"/>
          <p:cNvSpPr/>
          <p:nvPr/>
        </p:nvSpPr>
        <p:spPr>
          <a:xfrm>
            <a:off x="5015126" y="2075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3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פרויקטי</a:t>
            </a: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מדידה מורכבים ומקשים על חיזוי</a:t>
            </a:r>
            <a:endParaRPr lang="en-US" sz="1300" dirty="0"/>
          </a:p>
        </p:txBody>
      </p:sp>
      <p:sp>
        <p:nvSpPr>
          <p:cNvPr id="39" name="Text 10"/>
          <p:cNvSpPr/>
          <p:nvPr/>
        </p:nvSpPr>
        <p:spPr>
          <a:xfrm>
            <a:off x="5015126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קיימת דרישה לחיזוי עמידה /  חריגה ב 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300" dirty="0"/>
          </a:p>
        </p:txBody>
      </p:sp>
      <p:sp>
        <p:nvSpPr>
          <p:cNvPr id="41" name="Text 12"/>
          <p:cNvSpPr/>
          <p:nvPr/>
        </p:nvSpPr>
        <p:spPr>
          <a:xfrm>
            <a:off x="5015126" y="30815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חסרון הכלי גורם לאי שביעות רצון לקוחות</a:t>
            </a:r>
            <a:endParaRPr lang="en-US" sz="1300" dirty="0"/>
          </a:p>
        </p:txBody>
      </p:sp>
      <p:sp>
        <p:nvSpPr>
          <p:cNvPr id="43" name="Text 14"/>
          <p:cNvSpPr/>
          <p:nvPr/>
        </p:nvSpPr>
        <p:spPr>
          <a:xfrm>
            <a:off x="5015126" y="3584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היעדר תחזית מדויקת מקשה על התארגנות כוח אדם</a:t>
            </a:r>
            <a:endParaRPr lang="en-US" sz="1300" dirty="0"/>
          </a:p>
        </p:txBody>
      </p:sp>
      <p:sp>
        <p:nvSpPr>
          <p:cNvPr id="44" name="Shape 5"/>
          <p:cNvSpPr/>
          <p:nvPr/>
        </p:nvSpPr>
        <p:spPr>
          <a:xfrm>
            <a:off x="8584784" y="1627632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Shape 7"/>
          <p:cNvSpPr/>
          <p:nvPr/>
        </p:nvSpPr>
        <p:spPr>
          <a:xfrm>
            <a:off x="8584784" y="2130552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Shape 9"/>
          <p:cNvSpPr/>
          <p:nvPr/>
        </p:nvSpPr>
        <p:spPr>
          <a:xfrm>
            <a:off x="8584784" y="2633472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Shape 11"/>
          <p:cNvSpPr/>
          <p:nvPr/>
        </p:nvSpPr>
        <p:spPr>
          <a:xfrm>
            <a:off x="8584784" y="3136392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Shape 13"/>
          <p:cNvSpPr/>
          <p:nvPr/>
        </p:nvSpPr>
        <p:spPr>
          <a:xfrm>
            <a:off x="8584784" y="3639312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Shape 18"/>
          <p:cNvSpPr/>
          <p:nvPr/>
        </p:nvSpPr>
        <p:spPr>
          <a:xfrm>
            <a:off x="3829935" y="162763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Shape 20"/>
          <p:cNvSpPr/>
          <p:nvPr/>
        </p:nvSpPr>
        <p:spPr>
          <a:xfrm>
            <a:off x="3829935" y="213055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Shape 22"/>
          <p:cNvSpPr/>
          <p:nvPr/>
        </p:nvSpPr>
        <p:spPr>
          <a:xfrm>
            <a:off x="3829935" y="263347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Shape 24"/>
          <p:cNvSpPr/>
          <p:nvPr/>
        </p:nvSpPr>
        <p:spPr>
          <a:xfrm>
            <a:off x="3829935" y="313639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Shape 26"/>
          <p:cNvSpPr/>
          <p:nvPr/>
        </p:nvSpPr>
        <p:spPr>
          <a:xfrm>
            <a:off x="3829935" y="363931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he-IL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מודולים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אפליקציה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אחת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דשבורד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633472"/>
            <a:ext cx="13716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27432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</a:t>
            </a:r>
            <a:r>
              <a:rPr lang="he-IL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עמידה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ב-SLA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לפי סוג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ותשומות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50592" y="1051560"/>
            <a:ext cx="20116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2450592" y="1051560"/>
            <a:ext cx="2011680" cy="7315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2450592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450592" y="2103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EDA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770632" y="2633472"/>
            <a:ext cx="1371600" cy="36576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2450592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גרפים סטטיסטיים,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קורלציות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42032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26864" y="1051560"/>
            <a:ext cx="20116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4626864" y="1051560"/>
            <a:ext cx="2011680" cy="73152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4626864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🗂️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626864" y="2103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טבלת נתונים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946904" y="2633472"/>
            <a:ext cx="1371600" cy="36576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4626864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סינון, חיפוש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וסקירת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הנתונים</a:t>
            </a:r>
            <a:b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he-IL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היכרות מעמיקה עם יכולות המשרד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03136" y="1051560"/>
            <a:ext cx="20116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6803136" y="1051560"/>
            <a:ext cx="2011680" cy="73152"/>
          </a:xfrm>
          <a:prstGeom prst="rect">
            <a:avLst/>
          </a:prstGeom>
          <a:solidFill>
            <a:srgbClr val="7C1D2E"/>
          </a:solidFill>
          <a:ln w="12700">
            <a:solidFill>
              <a:srgbClr val="7C1D2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6803136" y="1234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🔮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803136" y="2103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חיזוי לוח זמנים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123176" y="2633472"/>
            <a:ext cx="1371600" cy="36576"/>
          </a:xfrm>
          <a:prstGeom prst="rect">
            <a:avLst/>
          </a:prstGeom>
          <a:solidFill>
            <a:srgbClr val="7C1D2E"/>
          </a:solidFill>
          <a:ln w="12700">
            <a:solidFill>
              <a:srgbClr val="7C1D2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6803136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 </a:t>
            </a:r>
            <a:b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לחיזוי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משך</a:t>
            </a:r>
            <a:r>
              <a:rPr lang="he-IL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הפריקט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ועמידה ב-SLA חוזי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94576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C1C2C"/>
          </a:solidFill>
          <a:ln w="12700">
            <a:solidFill>
              <a:srgbClr val="0C1C2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הדגמה חיה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1143000" y="1431382"/>
            <a:ext cx="75895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7132320" y="147710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חיזוי לוח זמנים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377440" y="148624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הזנת פרמטרים, חיזוי ML, </a:t>
            </a:r>
            <a:r>
              <a:rPr lang="he-IL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גאנט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חוזי מול בפועל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867486" y="3387506"/>
            <a:ext cx="5897880" cy="365760"/>
          </a:xfrm>
          <a:prstGeom prst="rect">
            <a:avLst/>
          </a:prstGeom>
          <a:solidFill>
            <a:srgbClr val="0C1C2C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https://</a:t>
            </a:r>
            <a:r>
              <a:rPr lang="en-US" dirty="0">
                <a:solidFill>
                  <a:schemeClr val="bg2"/>
                </a:solidFill>
                <a:hlinkClick r:id="rId3" action="ppaction://hlinkpres?slideindex=1&amp;slidetitle="/>
              </a:rPr>
              <a:t>://shetachm-s9jxsh7rxs.streamlit.app/</a:t>
            </a:r>
            <a:r>
              <a:rPr lang="en-US" dirty="0">
                <a:solidFill>
                  <a:schemeClr val="bg2"/>
                </a:solidFill>
              </a:rPr>
              <a:t>.streamlit.app/</a:t>
            </a:r>
            <a:endParaRPr lang="he-IL" dirty="0">
              <a:solidFill>
                <a:schemeClr val="bg2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2011680" y="46908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100" dirty="0"/>
          </a:p>
        </p:txBody>
      </p:sp>
      <p:sp>
        <p:nvSpPr>
          <p:cNvPr id="37" name="לחצן פעולה: עבור לסוף 36">
            <a:hlinkClick r:id="rId4" highlightClick="1"/>
            <a:extLst>
              <a:ext uri="{FF2B5EF4-FFF2-40B4-BE49-F238E27FC236}">
                <a16:creationId xmlns:a16="http://schemas.microsoft.com/office/drawing/2014/main" id="{B03A229C-9608-C09A-660F-D4692A05FC80}"/>
              </a:ext>
            </a:extLst>
          </p:cNvPr>
          <p:cNvSpPr/>
          <p:nvPr/>
        </p:nvSpPr>
        <p:spPr>
          <a:xfrm>
            <a:off x="443132" y="3771900"/>
            <a:ext cx="1097280" cy="731520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מייחד את המערכת שלנו?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🤖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ML   </a:t>
            </a:r>
            <a:r>
              <a:rPr lang="he-IL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אמיתי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מאומן על נתוני עבר אמיתיים – לא נוסחה ידנית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64008" cy="169164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846320" y="116128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📐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46320" y="10698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מותאם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לענף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המדידה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ולמשרד ספציפי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שדות ייחודיים: שטח בדונם, תשומות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שטח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ומשרד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SLA חוזי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64008" cy="1691640"/>
          </a:xfrm>
          <a:prstGeom prst="rect">
            <a:avLst/>
          </a:prstGeom>
          <a:solidFill>
            <a:srgbClr val="3B1F6A"/>
          </a:solidFill>
          <a:ln w="12700">
            <a:solidFill>
              <a:srgbClr val="3B1F6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411480" y="308152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🌳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11480" y="29900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</a:t>
            </a:r>
            <a:r>
              <a:rPr lang="he-IL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גאנט</a:t>
            </a:r>
            <a:r>
              <a:rPr lang="he-IL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לפרוייקט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347472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</a:t>
            </a:r>
            <a:r>
              <a:rPr lang="he-IL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גאנט</a:t>
            </a:r>
            <a:r>
              <a:rPr lang="he-IL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המחלק את כל שלבי הפרויקט על מנת לעמוד בלוח זמנים שנקבע</a:t>
            </a:r>
            <a:endParaRPr lang="en-US" sz="13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64008" cy="1691640"/>
          </a:xfrm>
          <a:prstGeom prst="rect">
            <a:avLst/>
          </a:prstGeom>
          <a:solidFill>
            <a:srgbClr val="7C1D2E"/>
          </a:solidFill>
          <a:ln w="12700">
            <a:solidFill>
              <a:srgbClr val="7C1D2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4846320" y="308152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846320" y="29900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השוואה חיה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גאנט כפול: לוח זמנים בפועל (ML) מול SLA חוזי – בזמן אמת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CBB69-8927-67F0-A6B2-C4349678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772CD7-4F62-34F0-68EF-E4EC29506312}"/>
              </a:ext>
            </a:extLst>
          </p:cNvPr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המשך פיתוח והרחבות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5179BFE-224A-2502-1C54-6D1414CA9556}"/>
              </a:ext>
            </a:extLst>
          </p:cNvPr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12A3E56-E2ED-1AFC-CD90-058989AFD784}"/>
              </a:ext>
            </a:extLst>
          </p:cNvPr>
          <p:cNvSpPr/>
          <p:nvPr/>
        </p:nvSpPr>
        <p:spPr>
          <a:xfrm>
            <a:off x="365760" y="1051560"/>
            <a:ext cx="8539752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23F9A64F-63D5-0359-AE12-08E69CD541EA}"/>
              </a:ext>
            </a:extLst>
          </p:cNvPr>
          <p:cNvSpPr/>
          <p:nvPr/>
        </p:nvSpPr>
        <p:spPr>
          <a:xfrm>
            <a:off x="4874440" y="1005840"/>
            <a:ext cx="4023360" cy="457200"/>
          </a:xfrm>
          <a:prstGeom prst="rect">
            <a:avLst/>
          </a:prstGeom>
          <a:solidFill>
            <a:srgbClr val="7C1D2E"/>
          </a:solidFill>
          <a:ln w="12700">
            <a:solidFill>
              <a:srgbClr val="7C1D2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D75E3E78-BD5D-3570-B2C5-008D68C686AA}"/>
              </a:ext>
            </a:extLst>
          </p:cNvPr>
          <p:cNvSpPr/>
          <p:nvPr/>
        </p:nvSpPr>
        <p:spPr>
          <a:xfrm>
            <a:off x="4920160" y="10241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הרחבות אפשריות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A4D63A2A-6062-88B3-8416-77F9C86B7AAA}"/>
              </a:ext>
            </a:extLst>
          </p:cNvPr>
          <p:cNvSpPr/>
          <p:nvPr/>
        </p:nvSpPr>
        <p:spPr>
          <a:xfrm>
            <a:off x="2011680" y="1572768"/>
            <a:ext cx="647816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3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הוספת פרמטרי אפיון של הפרויקט  כולל אילוצים – במטרה לאפשר דיוק נוסף בתחזית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18CD4431-CE72-84BF-D3C2-1700249C745F}"/>
              </a:ext>
            </a:extLst>
          </p:cNvPr>
          <p:cNvSpPr/>
          <p:nvPr/>
        </p:nvSpPr>
        <p:spPr>
          <a:xfrm>
            <a:off x="1688123" y="2075688"/>
            <a:ext cx="68017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3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kumimoji="0" lang="he-IL" sz="13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של בסיס הנתונים לאיתור צווארי בקבוק וקבלת המלצות שיפור והתייעלות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76973E91-30A5-AE9A-FA53-6C1A3026E13B}"/>
              </a:ext>
            </a:extLst>
          </p:cNvPr>
          <p:cNvSpPr/>
          <p:nvPr/>
        </p:nvSpPr>
        <p:spPr>
          <a:xfrm>
            <a:off x="5015126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3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אינטגרציה של הכלי עם יתר מערכות ה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r>
              <a:rPr kumimoji="0" lang="he-IL" sz="13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של המשרד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3C1C66B3-57AD-0125-75E5-6090A374A478}"/>
              </a:ext>
            </a:extLst>
          </p:cNvPr>
          <p:cNvSpPr/>
          <p:nvPr/>
        </p:nvSpPr>
        <p:spPr>
          <a:xfrm>
            <a:off x="5015126" y="30815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3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התאמת הכלי ותוצריו לבעלי תפקידים שונים במשרד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E6FFE763-FA38-23EB-0C4F-AD8CA5D6C500}"/>
              </a:ext>
            </a:extLst>
          </p:cNvPr>
          <p:cNvSpPr/>
          <p:nvPr/>
        </p:nvSpPr>
        <p:spPr>
          <a:xfrm>
            <a:off x="4318782" y="3584448"/>
            <a:ext cx="417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3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התאמה בין תחזית ללקוח ספציפי (סוג הלקוח, ניסיון העבר...)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2B52062D-D874-C77B-543E-557C8C16213D}"/>
              </a:ext>
            </a:extLst>
          </p:cNvPr>
          <p:cNvSpPr/>
          <p:nvPr/>
        </p:nvSpPr>
        <p:spPr>
          <a:xfrm>
            <a:off x="8584784" y="1627632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D740824A-B31C-41C7-2B94-2262DBDCD07A}"/>
              </a:ext>
            </a:extLst>
          </p:cNvPr>
          <p:cNvSpPr/>
          <p:nvPr/>
        </p:nvSpPr>
        <p:spPr>
          <a:xfrm>
            <a:off x="8584784" y="2130552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509D830E-A21B-4996-0A31-A153F58BF732}"/>
              </a:ext>
            </a:extLst>
          </p:cNvPr>
          <p:cNvSpPr/>
          <p:nvPr/>
        </p:nvSpPr>
        <p:spPr>
          <a:xfrm>
            <a:off x="8584784" y="2633472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E3410A93-1770-9E5F-41E2-530827F9B20E}"/>
              </a:ext>
            </a:extLst>
          </p:cNvPr>
          <p:cNvSpPr/>
          <p:nvPr/>
        </p:nvSpPr>
        <p:spPr>
          <a:xfrm>
            <a:off x="8584784" y="3136392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6C7F6185-5338-CB22-C450-4D24C69DFFF0}"/>
              </a:ext>
            </a:extLst>
          </p:cNvPr>
          <p:cNvSpPr/>
          <p:nvPr/>
        </p:nvSpPr>
        <p:spPr>
          <a:xfrm>
            <a:off x="8584784" y="3639312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731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E07FE-0DF2-32C7-0F7E-CEEF46108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CECEF0-D50C-B82A-56D1-48AB5EC5E68B}"/>
              </a:ext>
            </a:extLst>
          </p:cNvPr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תודות....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C5CCE1-4080-2221-07D5-2BA16C3D3830}"/>
              </a:ext>
            </a:extLst>
          </p:cNvPr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מחיאות כפיים">
            <a:hlinkClick r:id="" action="ppaction://media"/>
            <a:extLst>
              <a:ext uri="{FF2B5EF4-FFF2-40B4-BE49-F238E27FC236}">
                <a16:creationId xmlns:a16="http://schemas.microsoft.com/office/drawing/2014/main" id="{A42D8B45-3C8B-45B1-031E-58F8A8FF10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47378" y="4439987"/>
            <a:ext cx="365522" cy="365522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9315164-9EA4-B0F1-D90B-561E993A76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017" y="1142191"/>
            <a:ext cx="5945715" cy="324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6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5752</TotalTime>
  <Words>340</Words>
  <Application>Microsoft Office PowerPoint</Application>
  <PresentationFormat>‫הצגה על המסך (16:9)</PresentationFormat>
  <Paragraphs>77</Paragraphs>
  <Slides>7</Slides>
  <Notes>7</Notes>
  <HiddenSlides>0</HiddenSlides>
  <MMClips>1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מערכת ניהול פרויקטי מדידה</dc:title>
  <dc:subject>PptxGenJS Presentation</dc:subject>
  <dc:creator>PptxGenJS</dc:creator>
  <cp:lastModifiedBy>יובל אשר</cp:lastModifiedBy>
  <cp:revision>16</cp:revision>
  <dcterms:created xsi:type="dcterms:W3CDTF">2026-06-01T19:21:23Z</dcterms:created>
  <dcterms:modified xsi:type="dcterms:W3CDTF">2026-06-10T16:52:25Z</dcterms:modified>
</cp:coreProperties>
</file>